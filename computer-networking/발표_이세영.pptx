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256" r:id="rId2"/>
    <p:sldId id="2120" r:id="rId3"/>
    <p:sldId id="2128" r:id="rId4"/>
    <p:sldId id="2133" r:id="rId5"/>
    <p:sldId id="2135" r:id="rId6"/>
    <p:sldId id="2132" r:id="rId7"/>
  </p:sldIdLst>
  <p:sldSz cx="12192000" cy="6858000"/>
  <p:notesSz cx="7099300" cy="102346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950D2E"/>
    <a:srgbClr val="0000FF"/>
    <a:srgbClr val="0C8373"/>
    <a:srgbClr val="302F2D"/>
    <a:srgbClr val="DAD4CC"/>
    <a:srgbClr val="0C3631"/>
    <a:srgbClr val="015698"/>
    <a:srgbClr val="DBD2C5"/>
    <a:srgbClr val="E7E3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보통 스타일 3 - 강조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248" autoAdjust="0"/>
    <p:restoredTop sz="96186" autoAdjust="0"/>
  </p:normalViewPr>
  <p:slideViewPr>
    <p:cSldViewPr snapToGrid="0">
      <p:cViewPr varScale="1">
        <p:scale>
          <a:sx n="84" d="100"/>
          <a:sy n="84" d="100"/>
        </p:scale>
        <p:origin x="922" y="8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10426"/>
    </p:cViewPr>
  </p:sorterViewPr>
  <p:notesViewPr>
    <p:cSldViewPr snapToGrid="0">
      <p:cViewPr varScale="1">
        <p:scale>
          <a:sx n="84" d="100"/>
          <a:sy n="84" d="100"/>
        </p:scale>
        <p:origin x="3200" y="8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3508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ko-KR" alt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721107"/>
            <a:ext cx="3076363" cy="513507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ko-KR" alt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4021294" y="9721107"/>
            <a:ext cx="3076363" cy="513507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4642DD3D-02FF-4154-B2F0-C045B21EE251}" type="slidenum">
              <a:rPr lang="ko-KR" altLang="en-US" smtClean="0">
                <a:latin typeface="KoPubWorld돋움체 Medium" panose="00000600000000000000" pitchFamily="2" charset="-127"/>
                <a:ea typeface="KoPubWorld돋움체 Medium" panose="00000600000000000000" pitchFamily="2" charset="-127"/>
              </a:rPr>
              <a:t>‹#›</a:t>
            </a:fld>
            <a:endParaRPr lang="ko-KR" alt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55674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3508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>
                <a:latin typeface="KoPubWorld돋움체 Medium" panose="00000600000000000000" pitchFamily="2" charset="-127"/>
                <a:ea typeface="KoPubWorld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1294" y="0"/>
            <a:ext cx="3076363" cy="513508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>
                <a:latin typeface="KoPubWorld돋움체 Medium" panose="00000600000000000000" pitchFamily="2" charset="-127"/>
                <a:ea typeface="KoPubWorld돋움체 Medium" panose="00000600000000000000" pitchFamily="2" charset="-127"/>
              </a:defRPr>
            </a:lvl1pPr>
          </a:lstStyle>
          <a:p>
            <a:fld id="{D401854C-1CAE-4FA1-A79A-52C43E536A1D}" type="datetimeFigureOut">
              <a:rPr lang="ko-KR" altLang="en-US" smtClean="0"/>
              <a:pPr/>
              <a:t>2026-04-10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09930" y="4925407"/>
            <a:ext cx="5679440" cy="4029879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6363" cy="513507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>
                <a:latin typeface="KoPubWorld돋움체 Medium" panose="00000600000000000000" pitchFamily="2" charset="-127"/>
                <a:ea typeface="KoPubWorld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1294" y="9721107"/>
            <a:ext cx="3076363" cy="513507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>
                <a:latin typeface="KoPubWorld돋움체 Medium" panose="00000600000000000000" pitchFamily="2" charset="-127"/>
                <a:ea typeface="KoPubWorld돋움체 Medium" panose="00000600000000000000" pitchFamily="2" charset="-127"/>
              </a:defRPr>
            </a:lvl1pPr>
          </a:lstStyle>
          <a:p>
            <a:fld id="{BCDC297A-9D4A-4CA8-8EAE-8B01114F380F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06467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World돋움체 Medium" panose="00000600000000000000" pitchFamily="2" charset="-127"/>
        <a:ea typeface="KoPubWorld돋움체 Medium" panose="00000600000000000000" pitchFamily="2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oPubWorld돋움체 Medium" panose="00000600000000000000" pitchFamily="2" charset="-127"/>
        <a:ea typeface="KoPubWorld돋움체 Medium" panose="00000600000000000000" pitchFamily="2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oPubWorld돋움체 Medium" panose="00000600000000000000" pitchFamily="2" charset="-127"/>
        <a:ea typeface="KoPubWorld돋움체 Medium" panose="00000600000000000000" pitchFamily="2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oPubWorld돋움체 Medium" panose="00000600000000000000" pitchFamily="2" charset="-127"/>
        <a:ea typeface="KoPubWorld돋움체 Medium" panose="00000600000000000000" pitchFamily="2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oPubWorld돋움체 Medium" panose="00000600000000000000" pitchFamily="2" charset="-127"/>
        <a:ea typeface="KoPubWorld돋움체 Medium" panose="00000600000000000000" pitchFamily="2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DC297A-9D4A-4CA8-8EAE-8B01114F380F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91169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2064755"/>
            <a:ext cx="9144000" cy="2387600"/>
          </a:xfrm>
        </p:spPr>
        <p:txBody>
          <a:bodyPr anchor="b">
            <a:normAutofit/>
          </a:bodyPr>
          <a:lstStyle>
            <a:lvl1pPr algn="ctr">
              <a:defRPr sz="48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5197572"/>
            <a:ext cx="9144000" cy="839333"/>
          </a:xfrm>
        </p:spPr>
        <p:txBody>
          <a:bodyPr/>
          <a:lstStyle>
            <a:lvl1pPr marL="0" indent="0" algn="ctr">
              <a:buNone/>
              <a:defRPr sz="24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직사각형 3"/>
          <p:cNvSpPr/>
          <p:nvPr userDrawn="1"/>
        </p:nvSpPr>
        <p:spPr>
          <a:xfrm>
            <a:off x="0" y="6456823"/>
            <a:ext cx="12192000" cy="3059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</a:endParaRPr>
          </a:p>
        </p:txBody>
      </p:sp>
      <p:sp>
        <p:nvSpPr>
          <p:cNvPr id="9" name="직사각형 8"/>
          <p:cNvSpPr/>
          <p:nvPr userDrawn="1"/>
        </p:nvSpPr>
        <p:spPr>
          <a:xfrm>
            <a:off x="0" y="551323"/>
            <a:ext cx="12192000" cy="4377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</a:endParaRPr>
          </a:p>
        </p:txBody>
      </p:sp>
      <p:grpSp>
        <p:nvGrpSpPr>
          <p:cNvPr id="7" name="그룹">
            <a:extLst>
              <a:ext uri="{FF2B5EF4-FFF2-40B4-BE49-F238E27FC236}">
                <a16:creationId xmlns:a16="http://schemas.microsoft.com/office/drawing/2014/main" id="{94BA55AC-F981-08A8-BE1A-541E768BCE5A}"/>
              </a:ext>
            </a:extLst>
          </p:cNvPr>
          <p:cNvGrpSpPr/>
          <p:nvPr userDrawn="1"/>
        </p:nvGrpSpPr>
        <p:grpSpPr>
          <a:xfrm flipV="1">
            <a:off x="-1" y="4828519"/>
            <a:ext cx="12192001" cy="135730"/>
            <a:chOff x="0" y="2"/>
            <a:chExt cx="24383208" cy="180213"/>
          </a:xfrm>
        </p:grpSpPr>
        <p:sp>
          <p:nvSpPr>
            <p:cNvPr id="8" name="직사각형">
              <a:extLst>
                <a:ext uri="{FF2B5EF4-FFF2-40B4-BE49-F238E27FC236}">
                  <a16:creationId xmlns:a16="http://schemas.microsoft.com/office/drawing/2014/main" id="{27CAEC9B-4382-C572-2406-C96F9B2987B3}"/>
                </a:ext>
              </a:extLst>
            </p:cNvPr>
            <p:cNvSpPr/>
            <p:nvPr/>
          </p:nvSpPr>
          <p:spPr>
            <a:xfrm>
              <a:off x="0" y="5"/>
              <a:ext cx="22706861" cy="180210"/>
            </a:xfrm>
            <a:prstGeom prst="rect">
              <a:avLst/>
            </a:prstGeom>
            <a:solidFill>
              <a:srgbClr val="D4C6B1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defRPr sz="3200" b="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Medium"/>
                </a:defRPr>
              </a:pPr>
              <a:endParaRPr dirty="0">
                <a:latin typeface="KoPubWorld돋움체 Medium" panose="00000600000000000000" pitchFamily="2" charset="-127"/>
              </a:endParaRPr>
            </a:p>
          </p:txBody>
        </p:sp>
        <p:sp>
          <p:nvSpPr>
            <p:cNvPr id="10" name="직사각형">
              <a:extLst>
                <a:ext uri="{FF2B5EF4-FFF2-40B4-BE49-F238E27FC236}">
                  <a16:creationId xmlns:a16="http://schemas.microsoft.com/office/drawing/2014/main" id="{E7F3BEB5-5138-8486-55FD-07AB5DEE2E17}"/>
                </a:ext>
              </a:extLst>
            </p:cNvPr>
            <p:cNvSpPr/>
            <p:nvPr/>
          </p:nvSpPr>
          <p:spPr>
            <a:xfrm>
              <a:off x="22706861" y="2"/>
              <a:ext cx="1676347" cy="180211"/>
            </a:xfrm>
            <a:prstGeom prst="rect">
              <a:avLst/>
            </a:prstGeom>
            <a:solidFill>
              <a:srgbClr val="8F0026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defRPr sz="3200" b="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Medium"/>
                </a:defRPr>
              </a:pPr>
              <a:endParaRPr dirty="0">
                <a:latin typeface="KoPubWorld돋움체 Medium" panose="000006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866565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중간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82523-747B-4735-9942-0DFBA197DB8A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7" name="그룹">
            <a:extLst>
              <a:ext uri="{FF2B5EF4-FFF2-40B4-BE49-F238E27FC236}">
                <a16:creationId xmlns:a16="http://schemas.microsoft.com/office/drawing/2014/main" id="{2B40F77B-427D-F192-E056-A8565D16476B}"/>
              </a:ext>
            </a:extLst>
          </p:cNvPr>
          <p:cNvGrpSpPr/>
          <p:nvPr userDrawn="1"/>
        </p:nvGrpSpPr>
        <p:grpSpPr>
          <a:xfrm flipV="1">
            <a:off x="0" y="4558251"/>
            <a:ext cx="12173196" cy="135730"/>
            <a:chOff x="0" y="2"/>
            <a:chExt cx="24383208" cy="180213"/>
          </a:xfrm>
        </p:grpSpPr>
        <p:sp>
          <p:nvSpPr>
            <p:cNvPr id="8" name="직사각형">
              <a:extLst>
                <a:ext uri="{FF2B5EF4-FFF2-40B4-BE49-F238E27FC236}">
                  <a16:creationId xmlns:a16="http://schemas.microsoft.com/office/drawing/2014/main" id="{AA5F1A57-CC3B-2E54-1489-DCC5DF555C93}"/>
                </a:ext>
              </a:extLst>
            </p:cNvPr>
            <p:cNvSpPr/>
            <p:nvPr/>
          </p:nvSpPr>
          <p:spPr>
            <a:xfrm>
              <a:off x="0" y="5"/>
              <a:ext cx="22706861" cy="180210"/>
            </a:xfrm>
            <a:prstGeom prst="rect">
              <a:avLst/>
            </a:prstGeom>
            <a:solidFill>
              <a:srgbClr val="D4C6B1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defRPr sz="3200" b="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Medium"/>
                </a:defRPr>
              </a:pPr>
              <a:endParaRPr dirty="0">
                <a:latin typeface="KoPubWorld돋움체 Medium" panose="00000600000000000000" pitchFamily="2" charset="-127"/>
              </a:endParaRPr>
            </a:p>
          </p:txBody>
        </p:sp>
        <p:sp>
          <p:nvSpPr>
            <p:cNvPr id="9" name="직사각형">
              <a:extLst>
                <a:ext uri="{FF2B5EF4-FFF2-40B4-BE49-F238E27FC236}">
                  <a16:creationId xmlns:a16="http://schemas.microsoft.com/office/drawing/2014/main" id="{70450837-2516-32D1-3DE6-0702656F5DAD}"/>
                </a:ext>
              </a:extLst>
            </p:cNvPr>
            <p:cNvSpPr/>
            <p:nvPr/>
          </p:nvSpPr>
          <p:spPr>
            <a:xfrm>
              <a:off x="22706861" y="2"/>
              <a:ext cx="1676347" cy="180211"/>
            </a:xfrm>
            <a:prstGeom prst="rect">
              <a:avLst/>
            </a:prstGeom>
            <a:solidFill>
              <a:srgbClr val="8F0026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defRPr sz="3200" b="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Medium"/>
                </a:defRPr>
              </a:pPr>
              <a:endParaRPr dirty="0">
                <a:latin typeface="KoPubWorld돋움체 Medium" panose="00000600000000000000" pitchFamily="2" charset="-127"/>
              </a:endParaRPr>
            </a:p>
          </p:txBody>
        </p:sp>
      </p:grp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7BE99DD-28ED-28B8-B296-C00E1F00E578}"/>
              </a:ext>
            </a:extLst>
          </p:cNvPr>
          <p:cNvSpPr/>
          <p:nvPr userDrawn="1"/>
        </p:nvSpPr>
        <p:spPr>
          <a:xfrm>
            <a:off x="0" y="551323"/>
            <a:ext cx="12192000" cy="4377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420626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53260" y="66943"/>
            <a:ext cx="11283883" cy="620526"/>
          </a:xfrm>
        </p:spPr>
        <p:txBody>
          <a:bodyPr>
            <a:normAutofit/>
          </a:bodyPr>
          <a:lstStyle>
            <a:lvl1pPr algn="l">
              <a:defRPr sz="28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53259" y="918254"/>
            <a:ext cx="11882739" cy="573447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buClr>
                <a:schemeClr val="tx1">
                  <a:lumMod val="50000"/>
                  <a:lumOff val="50000"/>
                </a:schemeClr>
              </a:buCl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11460019" y="160550"/>
            <a:ext cx="624444" cy="365125"/>
          </a:xfrm>
        </p:spPr>
        <p:txBody>
          <a:bodyPr/>
          <a:lstStyle/>
          <a:p>
            <a:fld id="{9D782523-747B-4735-9942-0DFBA197DB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74665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84BAF4-1C30-4A77-83DC-8F9E232E0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8BE069-F6FE-46E9-AE68-50F45A6C13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54081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1321D22C-7E61-A5B0-5C58-3B19D14CE9E4}"/>
              </a:ext>
            </a:extLst>
          </p:cNvPr>
          <p:cNvSpPr/>
          <p:nvPr userDrawn="1"/>
        </p:nvSpPr>
        <p:spPr>
          <a:xfrm>
            <a:off x="0" y="335902"/>
            <a:ext cx="12192000" cy="755780"/>
          </a:xfrm>
          <a:prstGeom prst="rect">
            <a:avLst/>
          </a:prstGeom>
          <a:solidFill>
            <a:schemeClr val="bg1"/>
          </a:solidFill>
          <a:ln w="571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73745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11460019" y="123226"/>
            <a:ext cx="62444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</a:lstStyle>
          <a:p>
            <a:fld id="{9D782523-747B-4735-9942-0DFBA197DB8A}" type="slidenum">
              <a:rPr lang="ko-KR" altLang="en-US" smtClean="0"/>
              <a:pPr/>
              <a:t>‹#›</a:t>
            </a:fld>
            <a:endParaRPr lang="ko-KR" altLang="en-US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136565" y="658233"/>
            <a:ext cx="11881263" cy="0"/>
          </a:xfrm>
          <a:prstGeom prst="line">
            <a:avLst/>
          </a:prstGeom>
          <a:ln w="38100">
            <a:solidFill>
              <a:srgbClr val="950D2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그룹">
            <a:extLst>
              <a:ext uri="{FF2B5EF4-FFF2-40B4-BE49-F238E27FC236}">
                <a16:creationId xmlns:a16="http://schemas.microsoft.com/office/drawing/2014/main" id="{754C7F90-8030-F689-3500-08507AC32B28}"/>
              </a:ext>
            </a:extLst>
          </p:cNvPr>
          <p:cNvGrpSpPr/>
          <p:nvPr userDrawn="1"/>
        </p:nvGrpSpPr>
        <p:grpSpPr>
          <a:xfrm flipV="1">
            <a:off x="0" y="620740"/>
            <a:ext cx="12173196" cy="135730"/>
            <a:chOff x="0" y="2"/>
            <a:chExt cx="24383208" cy="180213"/>
          </a:xfrm>
        </p:grpSpPr>
        <p:sp>
          <p:nvSpPr>
            <p:cNvPr id="12" name="직사각형">
              <a:extLst>
                <a:ext uri="{FF2B5EF4-FFF2-40B4-BE49-F238E27FC236}">
                  <a16:creationId xmlns:a16="http://schemas.microsoft.com/office/drawing/2014/main" id="{800767C0-B34A-977B-CC3B-F39CE4526FDD}"/>
                </a:ext>
              </a:extLst>
            </p:cNvPr>
            <p:cNvSpPr/>
            <p:nvPr/>
          </p:nvSpPr>
          <p:spPr>
            <a:xfrm>
              <a:off x="0" y="5"/>
              <a:ext cx="22706861" cy="180210"/>
            </a:xfrm>
            <a:prstGeom prst="rect">
              <a:avLst/>
            </a:prstGeom>
            <a:solidFill>
              <a:srgbClr val="D4C6B1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defRPr sz="3200" b="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Medium"/>
                </a:defRPr>
              </a:pPr>
              <a:endParaRPr dirty="0">
                <a:latin typeface="KoPubWorld돋움체 Medium" panose="00000600000000000000" pitchFamily="2" charset="-127"/>
              </a:endParaRPr>
            </a:p>
          </p:txBody>
        </p:sp>
        <p:sp>
          <p:nvSpPr>
            <p:cNvPr id="13" name="직사각형">
              <a:extLst>
                <a:ext uri="{FF2B5EF4-FFF2-40B4-BE49-F238E27FC236}">
                  <a16:creationId xmlns:a16="http://schemas.microsoft.com/office/drawing/2014/main" id="{E3B9ED9A-00C3-B22F-FD06-E07C0FF5DBBC}"/>
                </a:ext>
              </a:extLst>
            </p:cNvPr>
            <p:cNvSpPr/>
            <p:nvPr/>
          </p:nvSpPr>
          <p:spPr>
            <a:xfrm>
              <a:off x="22706861" y="2"/>
              <a:ext cx="1676347" cy="180211"/>
            </a:xfrm>
            <a:prstGeom prst="rect">
              <a:avLst/>
            </a:prstGeom>
            <a:solidFill>
              <a:srgbClr val="8F0026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defRPr sz="3200" b="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Medium"/>
                </a:defRPr>
              </a:pPr>
              <a:endParaRPr dirty="0">
                <a:latin typeface="KoPubWorld돋움체 Medium" panose="000006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36271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56" r:id="rId4"/>
    <p:sldLayoutId id="2147483657" r:id="rId5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Clr>
          <a:srgbClr val="950D2E"/>
        </a:buClr>
        <a:buFont typeface="Wingdings" panose="05000000000000000000" pitchFamily="2" charset="2"/>
        <a:buChar char="v"/>
        <a:defRPr sz="2800" kern="120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1pPr>
      <a:lvl2pPr marL="539750" indent="-180975" algn="l" defTabSz="914400" rtl="0" eaLnBrk="1" latinLnBrk="1" hangingPunct="1">
        <a:lnSpc>
          <a:spcPct val="90000"/>
        </a:lnSpc>
        <a:spcBef>
          <a:spcPts val="500"/>
        </a:spcBef>
        <a:buClr>
          <a:srgbClr val="950D2E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2pPr>
      <a:lvl3pPr marL="987425" indent="-180975" algn="l" defTabSz="914400" rtl="0" eaLnBrk="1" latinLnBrk="1" hangingPunct="1">
        <a:lnSpc>
          <a:spcPct val="90000"/>
        </a:lnSpc>
        <a:spcBef>
          <a:spcPts val="500"/>
        </a:spcBef>
        <a:buClr>
          <a:srgbClr val="950D2E"/>
        </a:buClr>
        <a:buFontTx/>
        <a:buChar char="–"/>
        <a:defRPr sz="2000" kern="120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Clr>
          <a:schemeClr val="accent6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Clr>
          <a:schemeClr val="accent6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78BC442-7829-4D1E-2A90-7E4ADA9C4CC6}"/>
              </a:ext>
            </a:extLst>
          </p:cNvPr>
          <p:cNvSpPr txBox="1">
            <a:spLocks/>
          </p:cNvSpPr>
          <p:nvPr/>
        </p:nvSpPr>
        <p:spPr>
          <a:xfrm>
            <a:off x="89807" y="5226176"/>
            <a:ext cx="12009663" cy="13270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defRPr>
            </a:lvl1pPr>
          </a:lstStyle>
          <a:p>
            <a:pPr>
              <a:lnSpc>
                <a:spcPct val="100000"/>
              </a:lnSpc>
            </a:pPr>
            <a:r>
              <a:rPr lang="en-US" altLang="ko-KR" sz="4000" b="1" dirty="0">
                <a:latin typeface="Calibri" panose="020F0502020204030204" pitchFamily="34" charset="0"/>
                <a:ea typeface="Noto Sans KR" panose="020B0200000000000000" pitchFamily="50" charset="-127"/>
                <a:cs typeface="KoPubWorld돋움체 Medium" panose="00000600000000000000" pitchFamily="2" charset="-127"/>
              </a:rPr>
              <a:t>202584-010097</a:t>
            </a:r>
            <a:r>
              <a:rPr lang="ko-KR" altLang="en-US" sz="4000" b="1" dirty="0">
                <a:latin typeface="Calibri" panose="020F0502020204030204" pitchFamily="34" charset="0"/>
                <a:ea typeface="Noto Sans KR" panose="020B0200000000000000" pitchFamily="50" charset="-127"/>
                <a:cs typeface="KoPubWorld돋움체 Medium" panose="00000600000000000000" pitchFamily="2" charset="-127"/>
              </a:rPr>
              <a:t> 정보과학과 이세영</a:t>
            </a:r>
          </a:p>
        </p:txBody>
      </p:sp>
      <p:sp>
        <p:nvSpPr>
          <p:cNvPr id="4" name="AutoShape 2" descr="Raspberry Pi - 나무위키">
            <a:extLst>
              <a:ext uri="{FF2B5EF4-FFF2-40B4-BE49-F238E27FC236}">
                <a16:creationId xmlns:a16="http://schemas.microsoft.com/office/drawing/2014/main" id="{E6E7D633-E242-89D2-919D-B135E230D60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dirty="0">
              <a:latin typeface="Calibri" panose="020F0502020204030204" pitchFamily="34" charset="0"/>
              <a:ea typeface="Noto Sans KR" panose="020B0200000000000000" pitchFamily="50" charset="-127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3BB0257-65DB-4E4B-1586-1A43D95F5B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629257"/>
            <a:ext cx="12192000" cy="2873829"/>
          </a:xfrm>
        </p:spPr>
        <p:txBody>
          <a:bodyPr>
            <a:normAutofit/>
          </a:bodyPr>
          <a:lstStyle/>
          <a:p>
            <a:pPr>
              <a:lnSpc>
                <a:spcPct val="130000"/>
              </a:lnSpc>
            </a:pPr>
            <a:r>
              <a:rPr lang="ko-KR" altLang="en-US" b="1" dirty="0">
                <a:latin typeface="Calibri" panose="020F0502020204030204" pitchFamily="34" charset="0"/>
                <a:ea typeface="Noto Sans KR" panose="020B0200000000000000" pitchFamily="50" charset="-127"/>
              </a:rPr>
              <a:t>SDN 및 P4 기반의 무손실 이동 표적
방어 (MTD) 메커니즘에 관한 연구</a:t>
            </a:r>
          </a:p>
        </p:txBody>
      </p:sp>
    </p:spTree>
    <p:extLst>
      <p:ext uri="{BB962C8B-B14F-4D97-AF65-F5344CB8AC3E}">
        <p14:creationId xmlns:p14="http://schemas.microsoft.com/office/powerpoint/2010/main" val="36376890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65D43A-C36E-F3AF-BC80-E808BE08B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Calibri" panose="020F0502020204030204" pitchFamily="34" charset="0"/>
                <a:ea typeface="Noto Sans KR" panose="020B0200000000000000" pitchFamily="50" charset="-127"/>
              </a:rPr>
              <a:t>1. </a:t>
            </a:r>
            <a:r>
              <a:rPr lang="ko-KR" altLang="en-US" b="1" dirty="0">
                <a:latin typeface="Calibri" panose="020F0502020204030204" pitchFamily="34" charset="0"/>
                <a:ea typeface="Noto Sans KR" panose="020B0200000000000000" pitchFamily="50" charset="-127"/>
              </a:rPr>
              <a:t>연구 주제의 선정 동기 및 배경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F6BC16B-EAA7-3DDA-941C-1A63DBBF36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ko-KR" altLang="en-US" sz="1800" dirty="0">
                <a:latin typeface="Calibri" panose="020F0502020204030204" pitchFamily="34" charset="0"/>
                <a:ea typeface="Noto Sans KR" panose="020B0200000000000000" pitchFamily="50" charset="-127"/>
              </a:rPr>
              <a:t>현대 네트워크: 정적 IP 구조 → 공격자에게 비대칭적 우위</a:t>
            </a:r>
          </a:p>
          <a:p>
            <a:pPr marL="431800" indent="-285750">
              <a:buFontTx/>
              <a:buChar char="-"/>
            </a:pP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공격자는 하나만 뚫으면 됨 </a:t>
            </a:r>
            <a:r>
              <a:rPr lang="ko-KR" altLang="en-US" sz="1900" dirty="0" err="1">
                <a:latin typeface="Calibri" panose="020F0502020204030204" pitchFamily="34" charset="0"/>
                <a:ea typeface="Noto Sans KR" panose="020B0200000000000000" pitchFamily="50" charset="-127"/>
              </a:rPr>
              <a:t>vs</a:t>
            </a: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 방어자는 모든 곳을 방어</a:t>
            </a:r>
          </a:p>
          <a:p>
            <a:pPr marL="0" lvl="0" indent="0">
              <a:buNone/>
            </a:pPr>
            <a:endParaRPr lang="en-US" altLang="ko-KR" sz="1800" dirty="0">
              <a:latin typeface="Calibri" panose="020F0502020204030204" pitchFamily="34" charset="0"/>
              <a:ea typeface="Noto Sans KR" panose="020B0200000000000000" pitchFamily="50" charset="-127"/>
            </a:endParaRPr>
          </a:p>
          <a:p>
            <a:pPr marL="0" lvl="0" indent="0">
              <a:buNone/>
            </a:pPr>
            <a:r>
              <a:rPr lang="ko-KR" altLang="en-US" sz="1800" dirty="0">
                <a:latin typeface="Calibri" panose="020F0502020204030204" pitchFamily="34" charset="0"/>
                <a:ea typeface="Noto Sans KR" panose="020B0200000000000000" pitchFamily="50" charset="-127"/>
              </a:rPr>
              <a:t>기존 방어체계 (방화벽, IPS, NAC)의 한계</a:t>
            </a:r>
          </a:p>
          <a:p>
            <a:pPr marL="431800" indent="-285750">
              <a:buFontTx/>
              <a:buChar char="-"/>
            </a:pPr>
            <a:r>
              <a:rPr lang="ko-KR" altLang="en-US" sz="1900" dirty="0" err="1">
                <a:latin typeface="Calibri" panose="020F0502020204030204" pitchFamily="34" charset="0"/>
                <a:ea typeface="Noto Sans KR" panose="020B0200000000000000" pitchFamily="50" charset="-127"/>
              </a:rPr>
              <a:t>제로데이</a:t>
            </a: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, APT 등 지능형 위협에 수동적 방어로 대응 불가</a:t>
            </a:r>
          </a:p>
          <a:p>
            <a:pPr marL="0" lvl="0" indent="0">
              <a:buNone/>
            </a:pPr>
            <a:endParaRPr lang="en-US" altLang="ko-KR" sz="1800" dirty="0">
              <a:latin typeface="Calibri" panose="020F0502020204030204" pitchFamily="34" charset="0"/>
              <a:ea typeface="Noto Sans KR" panose="020B0200000000000000" pitchFamily="50" charset="-127"/>
            </a:endParaRPr>
          </a:p>
          <a:p>
            <a:pPr marL="0" lvl="0" indent="0">
              <a:buNone/>
            </a:pPr>
            <a:r>
              <a:rPr lang="ko-KR" altLang="en-US" sz="1800" dirty="0">
                <a:latin typeface="Calibri" panose="020F0502020204030204" pitchFamily="34" charset="0"/>
                <a:ea typeface="Noto Sans KR" panose="020B0200000000000000" pitchFamily="50" charset="-127"/>
              </a:rPr>
              <a:t>이동 표적 방어 (MTD)</a:t>
            </a:r>
          </a:p>
          <a:p>
            <a:pPr marL="431800" indent="-285750">
              <a:buFontTx/>
              <a:buChar char="-"/>
            </a:pP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공격 표면 (IP, 포트, 경로)을 동적으로 변경 → 정찰 무력화</a:t>
            </a:r>
          </a:p>
          <a:p>
            <a:pPr marL="0" lvl="0" indent="0">
              <a:buNone/>
            </a:pPr>
            <a:endParaRPr lang="en-US" altLang="ko-KR" sz="1800" dirty="0">
              <a:latin typeface="Calibri" panose="020F0502020204030204" pitchFamily="34" charset="0"/>
              <a:ea typeface="Noto Sans KR" panose="020B0200000000000000" pitchFamily="50" charset="-127"/>
            </a:endParaRPr>
          </a:p>
          <a:p>
            <a:pPr marL="0" lvl="0" indent="0">
              <a:buNone/>
            </a:pPr>
            <a:r>
              <a:rPr lang="ko-KR" altLang="en-US" sz="1800" dirty="0">
                <a:latin typeface="Calibri" panose="020F0502020204030204" pitchFamily="34" charset="0"/>
                <a:ea typeface="Noto Sans KR" panose="020B0200000000000000" pitchFamily="50" charset="-127"/>
              </a:rPr>
              <a:t>SDN + P4의 가능성</a:t>
            </a:r>
          </a:p>
          <a:p>
            <a:pPr marL="431800" indent="-285750">
              <a:buFontTx/>
              <a:buChar char="-"/>
            </a:pP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SDN: 제어/데이터 평면 분리, 중앙 집중 제어</a:t>
            </a:r>
            <a:endParaRPr lang="en-US" altLang="ko-KR" sz="1900" dirty="0">
              <a:latin typeface="Calibri" panose="020F0502020204030204" pitchFamily="34" charset="0"/>
              <a:ea typeface="Noto Sans KR" panose="020B0200000000000000" pitchFamily="50" charset="-127"/>
            </a:endParaRPr>
          </a:p>
          <a:p>
            <a:pPr marL="431800" indent="-285750">
              <a:buFontTx/>
              <a:buChar char="-"/>
            </a:pP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P4: 데이터 평면 프로그래밍 → 와이어 속도 패킷 처리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24D5A0-5D45-3D02-B245-7EDE8115A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82523-747B-4735-9942-0DFBA197DB8A}" type="slidenum">
              <a:rPr lang="ko-KR" altLang="en-US" smtClean="0">
                <a:latin typeface="Calibri" panose="020F0502020204030204" pitchFamily="34" charset="0"/>
                <a:ea typeface="Noto Sans KR" panose="020B0200000000000000" pitchFamily="50" charset="-127"/>
              </a:rPr>
              <a:t>2</a:t>
            </a:fld>
            <a:endParaRPr lang="ko-KR" altLang="en-US">
              <a:latin typeface="Calibri" panose="020F0502020204030204" pitchFamily="34" charset="0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43420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65D43A-C36E-F3AF-BC80-E808BE08B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Calibri" panose="020F0502020204030204" pitchFamily="34" charset="0"/>
                <a:ea typeface="Noto Sans KR" panose="020B0200000000000000" pitchFamily="50" charset="-127"/>
              </a:rPr>
              <a:t>2. </a:t>
            </a:r>
            <a:r>
              <a:rPr lang="ko-KR" altLang="en-US" b="1" dirty="0">
                <a:latin typeface="Calibri" panose="020F0502020204030204" pitchFamily="34" charset="0"/>
                <a:ea typeface="Noto Sans KR" panose="020B0200000000000000" pitchFamily="50" charset="-127"/>
              </a:rPr>
              <a:t>연구의 목적 및 필요성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F6BC16B-EAA7-3DDA-941C-1A63DBBF36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ko-KR" altLang="en-US" sz="1800" dirty="0">
                <a:latin typeface="Calibri" panose="020F0502020204030204" pitchFamily="34" charset="0"/>
                <a:ea typeface="Noto Sans KR" panose="020B0200000000000000" pitchFamily="50" charset="-127"/>
              </a:rPr>
              <a:t>기존 SDN 기반 </a:t>
            </a:r>
            <a:r>
              <a:rPr lang="ko-KR" altLang="en-US" sz="1800" dirty="0" err="1">
                <a:latin typeface="Calibri" panose="020F0502020204030204" pitchFamily="34" charset="0"/>
                <a:ea typeface="Noto Sans KR" panose="020B0200000000000000" pitchFamily="50" charset="-127"/>
              </a:rPr>
              <a:t>MTD의</a:t>
            </a:r>
            <a:r>
              <a:rPr lang="ko-KR" altLang="en-US" sz="1800" dirty="0">
                <a:latin typeface="Calibri" panose="020F0502020204030204" pitchFamily="34" charset="0"/>
                <a:ea typeface="Noto Sans KR" panose="020B0200000000000000" pitchFamily="50" charset="-127"/>
              </a:rPr>
              <a:t> 한계</a:t>
            </a:r>
          </a:p>
          <a:p>
            <a:pPr marL="431800" indent="-285750">
              <a:buFontTx/>
              <a:buChar char="-"/>
            </a:pP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컨트롤러 병목: 패킷마다 제어기 질의 → </a:t>
            </a:r>
            <a:r>
              <a:rPr lang="ko-KR" altLang="en-US" sz="1900" dirty="0" err="1">
                <a:latin typeface="Calibri" panose="020F0502020204030204" pitchFamily="34" charset="0"/>
                <a:ea typeface="Noto Sans KR" panose="020B0200000000000000" pitchFamily="50" charset="-127"/>
              </a:rPr>
              <a:t>밀리초</a:t>
            </a: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 지연</a:t>
            </a:r>
            <a:endParaRPr lang="en-US" altLang="ko-KR" sz="1900" dirty="0">
              <a:latin typeface="Calibri" panose="020F0502020204030204" pitchFamily="34" charset="0"/>
              <a:ea typeface="Noto Sans KR" panose="020B0200000000000000" pitchFamily="50" charset="-127"/>
            </a:endParaRPr>
          </a:p>
          <a:p>
            <a:pPr marL="431800" indent="-285750">
              <a:buFontTx/>
              <a:buChar char="-"/>
            </a:pP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패킷 유실: 매핑 전환 시 진행 중 플로우 드롭</a:t>
            </a:r>
            <a:endParaRPr lang="en-US" altLang="ko-KR" sz="1900" dirty="0">
              <a:latin typeface="Calibri" panose="020F0502020204030204" pitchFamily="34" charset="0"/>
              <a:ea typeface="Noto Sans KR" panose="020B0200000000000000" pitchFamily="50" charset="-127"/>
            </a:endParaRPr>
          </a:p>
          <a:p>
            <a:pPr marL="431800" indent="-285750">
              <a:buFontTx/>
              <a:buChar char="-"/>
            </a:pP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플로우 테이블 확장성: SRAM 크기 한계</a:t>
            </a:r>
          </a:p>
          <a:p>
            <a:pPr marL="0" lvl="0" indent="0">
              <a:buNone/>
            </a:pPr>
            <a:endParaRPr lang="en-US" altLang="ko-KR" sz="1800" dirty="0">
              <a:latin typeface="Calibri" panose="020F0502020204030204" pitchFamily="34" charset="0"/>
              <a:ea typeface="Noto Sans KR" panose="020B0200000000000000" pitchFamily="50" charset="-127"/>
            </a:endParaRPr>
          </a:p>
          <a:p>
            <a:pPr marL="0" lvl="0" indent="0">
              <a:buNone/>
            </a:pPr>
            <a:r>
              <a:rPr lang="ko-KR" altLang="en-US" sz="1800" dirty="0">
                <a:latin typeface="Calibri" panose="020F0502020204030204" pitchFamily="34" charset="0"/>
                <a:ea typeface="Noto Sans KR" panose="020B0200000000000000" pitchFamily="50" charset="-127"/>
              </a:rPr>
              <a:t>연구 목적</a:t>
            </a:r>
          </a:p>
          <a:p>
            <a:pPr marL="431800" indent="-285750">
              <a:buFontTx/>
              <a:buChar char="-"/>
            </a:pP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P4 데이터 평면에서 직접 주소 변이 → </a:t>
            </a:r>
            <a:r>
              <a:rPr lang="ko-KR" altLang="en-US" sz="1900" dirty="0" err="1">
                <a:latin typeface="Calibri" panose="020F0502020204030204" pitchFamily="34" charset="0"/>
                <a:ea typeface="Noto Sans KR" panose="020B0200000000000000" pitchFamily="50" charset="-127"/>
              </a:rPr>
              <a:t>마이크로초</a:t>
            </a: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 지연 </a:t>
            </a:r>
            <a:r>
              <a:rPr lang="ko-KR" altLang="en-US" sz="1900">
                <a:latin typeface="Calibri" panose="020F0502020204030204" pitchFamily="34" charset="0"/>
                <a:ea typeface="Noto Sans KR" panose="020B0200000000000000" pitchFamily="50" charset="-127"/>
              </a:rPr>
              <a:t>→ 성능 개선</a:t>
            </a:r>
            <a:endParaRPr lang="en-US" altLang="ko-KR" sz="1900" dirty="0">
              <a:latin typeface="Calibri" panose="020F0502020204030204" pitchFamily="34" charset="0"/>
              <a:ea typeface="Noto Sans KR" panose="020B0200000000000000" pitchFamily="50" charset="-127"/>
            </a:endParaRPr>
          </a:p>
          <a:p>
            <a:pPr marL="431800" indent="-285750">
              <a:buFontTx/>
              <a:buChar char="-"/>
            </a:pP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이중 매핑 테이블 + 플로우 추적 → 무손실 전환</a:t>
            </a:r>
            <a:endParaRPr lang="en-US" altLang="ko-KR" sz="1900" dirty="0">
              <a:latin typeface="Calibri" panose="020F0502020204030204" pitchFamily="34" charset="0"/>
              <a:ea typeface="Noto Sans KR" panose="020B0200000000000000" pitchFamily="50" charset="-127"/>
            </a:endParaRPr>
          </a:p>
          <a:p>
            <a:pPr marL="431800" indent="-285750">
              <a:buFontTx/>
              <a:buChar char="-"/>
            </a:pP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기존 TCP 세션 유지하면서 주소 변이 수행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24D5A0-5D45-3D02-B245-7EDE8115A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82523-747B-4735-9942-0DFBA197DB8A}" type="slidenum">
              <a:rPr lang="ko-KR" altLang="en-US" smtClean="0">
                <a:latin typeface="Calibri" panose="020F0502020204030204" pitchFamily="34" charset="0"/>
                <a:ea typeface="Noto Sans KR" panose="020B0200000000000000" pitchFamily="50" charset="-127"/>
              </a:rPr>
              <a:t>3</a:t>
            </a:fld>
            <a:endParaRPr lang="ko-KR" altLang="en-US">
              <a:latin typeface="Calibri" panose="020F0502020204030204" pitchFamily="34" charset="0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500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9086A-CED1-196C-2ABD-CCABB4DB0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94529A-02BA-17A6-75C3-DF573D265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Calibri" panose="020F0502020204030204" pitchFamily="34" charset="0"/>
                <a:ea typeface="Noto Sans KR" panose="020B0200000000000000" pitchFamily="50" charset="-127"/>
              </a:rPr>
              <a:t>4. </a:t>
            </a:r>
            <a:r>
              <a:rPr lang="ko-KR" altLang="en-US" b="1" dirty="0">
                <a:latin typeface="Calibri" panose="020F0502020204030204" pitchFamily="34" charset="0"/>
                <a:ea typeface="Noto Sans KR" panose="020B0200000000000000" pitchFamily="50" charset="-127"/>
              </a:rPr>
              <a:t>연구 방법 및 예상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13F01E-383E-1A95-4B39-70926CB76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ko-KR" altLang="en-US" sz="1800" dirty="0">
                <a:latin typeface="Calibri" panose="020F0502020204030204" pitchFamily="34" charset="0"/>
                <a:ea typeface="Noto Sans KR" panose="020B0200000000000000" pitchFamily="50" charset="-127"/>
              </a:rPr>
              <a:t>3계층 시스템 아키텍처</a:t>
            </a:r>
          </a:p>
          <a:p>
            <a:pPr marL="431800" indent="-285750">
              <a:buFontTx/>
              <a:buChar char="-"/>
            </a:pP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SDN 컨트롤러 → 정책 관리 (변이 주기, 가상 IP 풀)</a:t>
            </a:r>
            <a:endParaRPr lang="en-US" altLang="ko-KR" sz="1900" dirty="0">
              <a:latin typeface="Calibri" panose="020F0502020204030204" pitchFamily="34" charset="0"/>
              <a:ea typeface="Noto Sans KR" panose="020B0200000000000000" pitchFamily="50" charset="-127"/>
            </a:endParaRPr>
          </a:p>
          <a:p>
            <a:pPr marL="431800" indent="-285750">
              <a:buFontTx/>
              <a:buChar char="-"/>
            </a:pP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P4 경계 스위치 → </a:t>
            </a:r>
            <a:r>
              <a:rPr lang="ko-KR" altLang="en-US" sz="1900" dirty="0" err="1">
                <a:latin typeface="Calibri" panose="020F0502020204030204" pitchFamily="34" charset="0"/>
                <a:ea typeface="Noto Sans KR" panose="020B0200000000000000" pitchFamily="50" charset="-127"/>
              </a:rPr>
              <a:t>가상IP</a:t>
            </a: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 ↔ </a:t>
            </a:r>
            <a:r>
              <a:rPr lang="ko-KR" altLang="en-US" sz="1900" dirty="0" err="1">
                <a:latin typeface="Calibri" panose="020F0502020204030204" pitchFamily="34" charset="0"/>
                <a:ea typeface="Noto Sans KR" panose="020B0200000000000000" pitchFamily="50" charset="-127"/>
              </a:rPr>
              <a:t>실IP</a:t>
            </a: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 변환 (핵심)</a:t>
            </a:r>
            <a:endParaRPr lang="en-US" altLang="ko-KR" sz="1900" dirty="0">
              <a:latin typeface="Calibri" panose="020F0502020204030204" pitchFamily="34" charset="0"/>
              <a:ea typeface="Noto Sans KR" panose="020B0200000000000000" pitchFamily="50" charset="-127"/>
            </a:endParaRPr>
          </a:p>
          <a:p>
            <a:pPr marL="431800" indent="-285750">
              <a:buFontTx/>
              <a:buChar char="-"/>
            </a:pP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P4 코어 스위치 → 내부 포워딩 (</a:t>
            </a:r>
            <a:r>
              <a:rPr lang="ko-KR" altLang="en-US" sz="1900" dirty="0" err="1">
                <a:latin typeface="Calibri" panose="020F0502020204030204" pitchFamily="34" charset="0"/>
                <a:ea typeface="Noto Sans KR" panose="020B0200000000000000" pitchFamily="50" charset="-127"/>
              </a:rPr>
              <a:t>실IP</a:t>
            </a: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 기반)</a:t>
            </a:r>
          </a:p>
          <a:p>
            <a:pPr marL="0" lvl="0" indent="0">
              <a:buNone/>
            </a:pPr>
            <a:endParaRPr lang="en-US" altLang="ko-KR" sz="1800" dirty="0">
              <a:latin typeface="Calibri" panose="020F0502020204030204" pitchFamily="34" charset="0"/>
              <a:ea typeface="Noto Sans KR" panose="020B0200000000000000" pitchFamily="50" charset="-127"/>
            </a:endParaRPr>
          </a:p>
          <a:p>
            <a:pPr marL="0" lvl="0" indent="0">
              <a:buNone/>
            </a:pPr>
            <a:r>
              <a:rPr lang="ko-KR" altLang="en-US" sz="1800" dirty="0">
                <a:latin typeface="Calibri" panose="020F0502020204030204" pitchFamily="34" charset="0"/>
                <a:ea typeface="Noto Sans KR" panose="020B0200000000000000" pitchFamily="50" charset="-127"/>
              </a:rPr>
              <a:t>무손실 IP 변이 알고리즘 (3단계)</a:t>
            </a:r>
          </a:p>
          <a:p>
            <a:pPr marL="431800" indent="-285750">
              <a:buFontTx/>
              <a:buChar char="-"/>
            </a:pP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준비: 새 매핑 → 이중 테이블 비활성 슬롯에 설치</a:t>
            </a:r>
            <a:endParaRPr lang="en-US" altLang="ko-KR" sz="1900" dirty="0">
              <a:latin typeface="Calibri" panose="020F0502020204030204" pitchFamily="34" charset="0"/>
              <a:ea typeface="Noto Sans KR" panose="020B0200000000000000" pitchFamily="50" charset="-127"/>
            </a:endParaRPr>
          </a:p>
          <a:p>
            <a:pPr marL="431800" indent="-285750">
              <a:buFontTx/>
              <a:buChar char="-"/>
            </a:pP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병행: 새 연결=새 매핑, 기존 플로우=이전 매핑 유지</a:t>
            </a:r>
            <a:endParaRPr lang="en-US" altLang="ko-KR" sz="1900" dirty="0">
              <a:latin typeface="Calibri" panose="020F0502020204030204" pitchFamily="34" charset="0"/>
              <a:ea typeface="Noto Sans KR" panose="020B0200000000000000" pitchFamily="50" charset="-127"/>
            </a:endParaRPr>
          </a:p>
          <a:p>
            <a:pPr marL="431800" indent="-285750">
              <a:buFontTx/>
              <a:buChar char="-"/>
            </a:pP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정리: 이전 매핑 참조 플로우 0개 → 슬롯 해제</a:t>
            </a:r>
          </a:p>
          <a:p>
            <a:pPr marL="0" lvl="0" indent="0">
              <a:buNone/>
            </a:pPr>
            <a:endParaRPr lang="en-US" altLang="ko-KR" sz="1800" dirty="0">
              <a:latin typeface="Calibri" panose="020F0502020204030204" pitchFamily="34" charset="0"/>
              <a:ea typeface="Noto Sans KR" panose="020B0200000000000000" pitchFamily="50" charset="-127"/>
            </a:endParaRPr>
          </a:p>
          <a:p>
            <a:pPr marL="0" lvl="0" indent="0">
              <a:buNone/>
            </a:pPr>
            <a:r>
              <a:rPr lang="ko-KR" altLang="en-US" sz="1800" dirty="0">
                <a:latin typeface="Calibri" panose="020F0502020204030204" pitchFamily="34" charset="0"/>
                <a:ea typeface="Noto Sans KR" panose="020B0200000000000000" pitchFamily="50" charset="-127"/>
              </a:rPr>
              <a:t>예상 결과</a:t>
            </a:r>
          </a:p>
          <a:p>
            <a:pPr marL="431800" indent="-285750">
              <a:buFontTx/>
              <a:buChar char="-"/>
            </a:pP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탐지확률: </a:t>
            </a:r>
            <a:r>
              <a:rPr lang="ko-KR" altLang="en-US" sz="1900" dirty="0" err="1">
                <a:latin typeface="Calibri" panose="020F0502020204030204" pitchFamily="34" charset="0"/>
                <a:ea typeface="Noto Sans KR" panose="020B0200000000000000" pitchFamily="50" charset="-127"/>
              </a:rPr>
              <a:t>P</a:t>
            </a: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=1-(1-M/</a:t>
            </a:r>
            <a:r>
              <a:rPr lang="ko-KR" altLang="en-US" sz="1900" dirty="0" err="1">
                <a:latin typeface="Calibri" panose="020F0502020204030204" pitchFamily="34" charset="0"/>
                <a:ea typeface="Noto Sans KR" panose="020B0200000000000000" pitchFamily="50" charset="-127"/>
              </a:rPr>
              <a:t>N</a:t>
            </a: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)^(</a:t>
            </a:r>
            <a:r>
              <a:rPr lang="ko-KR" altLang="en-US" sz="1900" dirty="0" err="1">
                <a:latin typeface="Calibri" panose="020F0502020204030204" pitchFamily="34" charset="0"/>
                <a:ea typeface="Noto Sans KR" panose="020B0200000000000000" pitchFamily="50" charset="-127"/>
              </a:rPr>
              <a:t>S</a:t>
            </a:r>
            <a:r>
              <a:rPr lang="en-US" altLang="ko-KR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*</a:t>
            </a:r>
            <a:r>
              <a:rPr lang="ko-KR" altLang="en-US" sz="1900" dirty="0" err="1">
                <a:latin typeface="Calibri" panose="020F0502020204030204" pitchFamily="34" charset="0"/>
                <a:ea typeface="Noto Sans KR" panose="020B0200000000000000" pitchFamily="50" charset="-127"/>
              </a:rPr>
              <a:t>T</a:t>
            </a: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), </a:t>
            </a:r>
            <a:r>
              <a:rPr lang="ko-KR" altLang="en-US" sz="1900" dirty="0" err="1">
                <a:latin typeface="Calibri" panose="020F0502020204030204" pitchFamily="34" charset="0"/>
                <a:ea typeface="Noto Sans KR" panose="020B0200000000000000" pitchFamily="50" charset="-127"/>
              </a:rPr>
              <a:t>T</a:t>
            </a: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=10s→45.6%, </a:t>
            </a:r>
            <a:r>
              <a:rPr lang="ko-KR" altLang="en-US" sz="1900" dirty="0" err="1">
                <a:latin typeface="Calibri" panose="020F0502020204030204" pitchFamily="34" charset="0"/>
                <a:ea typeface="Noto Sans KR" panose="020B0200000000000000" pitchFamily="50" charset="-127"/>
              </a:rPr>
              <a:t>T</a:t>
            </a: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=5s→26.3%</a:t>
            </a:r>
            <a:endParaRPr lang="en-US" altLang="ko-KR" sz="1900" dirty="0">
              <a:latin typeface="Calibri" panose="020F0502020204030204" pitchFamily="34" charset="0"/>
              <a:ea typeface="Noto Sans KR" panose="020B0200000000000000" pitchFamily="50" charset="-127"/>
            </a:endParaRPr>
          </a:p>
          <a:p>
            <a:pPr marL="431800" indent="-285750">
              <a:buFontTx/>
              <a:buChar char="-"/>
            </a:pP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지연: </a:t>
            </a:r>
            <a:r>
              <a:rPr lang="ko-KR" altLang="en-US" sz="1900" dirty="0" err="1">
                <a:latin typeface="Calibri" panose="020F0502020204030204" pitchFamily="34" charset="0"/>
                <a:ea typeface="Noto Sans KR" panose="020B0200000000000000" pitchFamily="50" charset="-127"/>
              </a:rPr>
              <a:t>μs</a:t>
            </a: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 수준 (기존 </a:t>
            </a:r>
            <a:r>
              <a:rPr lang="ko-KR" altLang="en-US" sz="1900" dirty="0" err="1">
                <a:latin typeface="Calibri" panose="020F0502020204030204" pitchFamily="34" charset="0"/>
                <a:ea typeface="Noto Sans KR" panose="020B0200000000000000" pitchFamily="50" charset="-127"/>
              </a:rPr>
              <a:t>ms</a:t>
            </a: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 대비 1</a:t>
            </a:r>
            <a:r>
              <a:rPr lang="en-US" altLang="ko-KR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,</a:t>
            </a: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000배 감소)</a:t>
            </a:r>
            <a:endParaRPr lang="en-US" altLang="ko-KR" sz="1900" dirty="0">
              <a:latin typeface="Calibri" panose="020F0502020204030204" pitchFamily="34" charset="0"/>
              <a:ea typeface="Noto Sans KR" panose="020B0200000000000000" pitchFamily="50" charset="-127"/>
            </a:endParaRPr>
          </a:p>
          <a:p>
            <a:pPr marL="431800" indent="-285750">
              <a:buFontTx/>
              <a:buChar char="-"/>
            </a:pP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패킷 </a:t>
            </a:r>
            <a:r>
              <a:rPr lang="ko-KR" altLang="en-US" sz="1900" dirty="0" err="1">
                <a:latin typeface="Calibri" panose="020F0502020204030204" pitchFamily="34" charset="0"/>
                <a:ea typeface="Noto Sans KR" panose="020B0200000000000000" pitchFamily="50" charset="-127"/>
              </a:rPr>
              <a:t>유실률</a:t>
            </a: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: 0% (이중 매핑 + 플로우 추적)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6E3C62-CF92-4C68-2D5D-80492BBF8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82523-747B-4735-9942-0DFBA197DB8A}" type="slidenum">
              <a:rPr lang="ko-KR" altLang="en-US" smtClean="0">
                <a:latin typeface="Calibri" panose="020F0502020204030204" pitchFamily="34" charset="0"/>
                <a:ea typeface="Noto Sans KR" panose="020B0200000000000000" pitchFamily="50" charset="-127"/>
              </a:rPr>
              <a:t>4</a:t>
            </a:fld>
            <a:endParaRPr lang="ko-KR" altLang="en-US">
              <a:latin typeface="Calibri" panose="020F0502020204030204" pitchFamily="34" charset="0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951443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460270-E8A7-41D3-ABC5-B2BA811D16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dirty="0">
                <a:latin typeface="Calibri" panose="020F0502020204030204" pitchFamily="34" charset="0"/>
                <a:ea typeface="Noto Sans KR" panose="020B0200000000000000" pitchFamily="50" charset="-127"/>
              </a:rPr>
              <a:t>시스템 아키텍처 토폴로지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5B2F1F-61EA-480A-8C7F-D5D628C6E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82523-747B-4735-9942-0DFBA197DB8A}" type="slidenum">
              <a:rPr lang="ko-KR" altLang="en-US" smtClean="0">
                <a:latin typeface="Calibri" panose="020F0502020204030204" pitchFamily="34" charset="0"/>
                <a:ea typeface="Noto Sans KR" panose="020B0200000000000000" pitchFamily="50" charset="-127"/>
              </a:rPr>
              <a:t>5</a:t>
            </a:fld>
            <a:endParaRPr lang="ko-KR" altLang="en-US">
              <a:latin typeface="Calibri" panose="020F0502020204030204" pitchFamily="34" charset="0"/>
              <a:ea typeface="Noto Sans KR" panose="020B0200000000000000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1A64DA0F-7E27-4B1D-93B4-D4D23924A863}"/>
              </a:ext>
            </a:extLst>
          </p:cNvPr>
          <p:cNvSpPr/>
          <p:nvPr/>
        </p:nvSpPr>
        <p:spPr>
          <a:xfrm>
            <a:off x="931545" y="5936361"/>
            <a:ext cx="950976" cy="4114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Calibri" panose="020F0502020204030204" pitchFamily="34" charset="0"/>
                <a:ea typeface="Noto Sans KR" panose="020B0200000000000000" pitchFamily="50" charset="-127"/>
              </a:rPr>
              <a:t>Host 1</a:t>
            </a:r>
            <a:endParaRPr lang="ko-KR" altLang="en-US" dirty="0">
              <a:latin typeface="Calibri" panose="020F0502020204030204" pitchFamily="34" charset="0"/>
              <a:ea typeface="Noto Sans KR" panose="020B0200000000000000" pitchFamily="50" charset="-127"/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4DE0B4A2-6E93-4A13-9CE8-715881E2DD2D}"/>
              </a:ext>
            </a:extLst>
          </p:cNvPr>
          <p:cNvSpPr/>
          <p:nvPr/>
        </p:nvSpPr>
        <p:spPr>
          <a:xfrm>
            <a:off x="2138553" y="5936361"/>
            <a:ext cx="950976" cy="4114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Calibri" panose="020F0502020204030204" pitchFamily="34" charset="0"/>
                <a:ea typeface="Noto Sans KR" panose="020B0200000000000000" pitchFamily="50" charset="-127"/>
              </a:rPr>
              <a:t>Host 2</a:t>
            </a:r>
            <a:endParaRPr lang="ko-KR" altLang="en-US" dirty="0">
              <a:latin typeface="Calibri" panose="020F0502020204030204" pitchFamily="34" charset="0"/>
              <a:ea typeface="Noto Sans KR" panose="020B0200000000000000" pitchFamily="50" charset="-127"/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3C465EF4-A08C-4845-BDCD-334B16E4637D}"/>
              </a:ext>
            </a:extLst>
          </p:cNvPr>
          <p:cNvSpPr/>
          <p:nvPr/>
        </p:nvSpPr>
        <p:spPr>
          <a:xfrm>
            <a:off x="5793105" y="5936361"/>
            <a:ext cx="950976" cy="4114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Calibri" panose="020F0502020204030204" pitchFamily="34" charset="0"/>
                <a:ea typeface="Noto Sans KR" panose="020B0200000000000000" pitchFamily="50" charset="-127"/>
              </a:rPr>
              <a:t>Host 3</a:t>
            </a:r>
            <a:endParaRPr lang="ko-KR" altLang="en-US" dirty="0">
              <a:latin typeface="Calibri" panose="020F0502020204030204" pitchFamily="34" charset="0"/>
              <a:ea typeface="Noto Sans KR" panose="020B0200000000000000" pitchFamily="50" charset="-127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04087148-0945-4136-B2C1-DAFB103BD620}"/>
              </a:ext>
            </a:extLst>
          </p:cNvPr>
          <p:cNvSpPr/>
          <p:nvPr/>
        </p:nvSpPr>
        <p:spPr>
          <a:xfrm>
            <a:off x="7024497" y="5936361"/>
            <a:ext cx="950976" cy="4114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Calibri" panose="020F0502020204030204" pitchFamily="34" charset="0"/>
                <a:ea typeface="Noto Sans KR" panose="020B0200000000000000" pitchFamily="50" charset="-127"/>
              </a:rPr>
              <a:t>Host 4</a:t>
            </a:r>
            <a:endParaRPr lang="ko-KR" altLang="en-US" dirty="0">
              <a:latin typeface="Calibri" panose="020F0502020204030204" pitchFamily="34" charset="0"/>
              <a:ea typeface="Noto Sans KR" panose="020B0200000000000000" pitchFamily="50" charset="-127"/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EACAB86-B794-4F57-B6DF-174FBB3A1029}"/>
              </a:ext>
            </a:extLst>
          </p:cNvPr>
          <p:cNvSpPr/>
          <p:nvPr/>
        </p:nvSpPr>
        <p:spPr>
          <a:xfrm>
            <a:off x="931545" y="4775073"/>
            <a:ext cx="2157984" cy="41148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Calibri" panose="020F0502020204030204" pitchFamily="34" charset="0"/>
                <a:ea typeface="Noto Sans KR" panose="020B0200000000000000" pitchFamily="50" charset="-127"/>
              </a:rPr>
              <a:t>P4 edge switch 1</a:t>
            </a:r>
            <a:endParaRPr lang="ko-KR" altLang="en-US" dirty="0">
              <a:latin typeface="Calibri" panose="020F0502020204030204" pitchFamily="34" charset="0"/>
              <a:ea typeface="Noto Sans KR" panose="020B0200000000000000" pitchFamily="50" charset="-127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CF8107D0-1944-4D74-8366-D62E4C200ECF}"/>
              </a:ext>
            </a:extLst>
          </p:cNvPr>
          <p:cNvSpPr/>
          <p:nvPr/>
        </p:nvSpPr>
        <p:spPr>
          <a:xfrm>
            <a:off x="5817489" y="4775073"/>
            <a:ext cx="2157984" cy="41148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Calibri" panose="020F0502020204030204" pitchFamily="34" charset="0"/>
                <a:ea typeface="Noto Sans KR" panose="020B0200000000000000" pitchFamily="50" charset="-127"/>
              </a:rPr>
              <a:t>P4 edge switch 2</a:t>
            </a:r>
            <a:endParaRPr lang="ko-KR" altLang="en-US" dirty="0">
              <a:latin typeface="Calibri" panose="020F0502020204030204" pitchFamily="34" charset="0"/>
              <a:ea typeface="Noto Sans KR" panose="020B0200000000000000" pitchFamily="50" charset="-127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407BF591-DC0A-43EE-B63E-C6D2D5CD050D}"/>
              </a:ext>
            </a:extLst>
          </p:cNvPr>
          <p:cNvSpPr/>
          <p:nvPr/>
        </p:nvSpPr>
        <p:spPr>
          <a:xfrm>
            <a:off x="3374517" y="4125850"/>
            <a:ext cx="2157984" cy="41148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Calibri" panose="020F0502020204030204" pitchFamily="34" charset="0"/>
                <a:ea typeface="Noto Sans KR" panose="020B0200000000000000" pitchFamily="50" charset="-127"/>
              </a:rPr>
              <a:t>P4 core switch</a:t>
            </a:r>
            <a:endParaRPr lang="ko-KR" altLang="en-US" dirty="0">
              <a:latin typeface="Calibri" panose="020F0502020204030204" pitchFamily="34" charset="0"/>
              <a:ea typeface="Noto Sans KR" panose="020B0200000000000000" pitchFamily="50" charset="-127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86251803-61FD-4747-BC1C-89B83801B0FC}"/>
              </a:ext>
            </a:extLst>
          </p:cNvPr>
          <p:cNvSpPr/>
          <p:nvPr/>
        </p:nvSpPr>
        <p:spPr>
          <a:xfrm>
            <a:off x="3368168" y="2836545"/>
            <a:ext cx="2157984" cy="95097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latin typeface="Calibri" panose="020F0502020204030204" pitchFamily="34" charset="0"/>
                <a:ea typeface="Noto Sans KR" panose="020B0200000000000000" pitchFamily="50" charset="-127"/>
              </a:rPr>
              <a:t>외부 네트워크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402376FA-9355-455C-AAB9-A2705418A54C}"/>
              </a:ext>
            </a:extLst>
          </p:cNvPr>
          <p:cNvSpPr/>
          <p:nvPr/>
        </p:nvSpPr>
        <p:spPr>
          <a:xfrm>
            <a:off x="3374517" y="1387221"/>
            <a:ext cx="2157984" cy="95097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latin typeface="Calibri" panose="020F0502020204030204" pitchFamily="34" charset="0"/>
                <a:ea typeface="Noto Sans KR" panose="020B0200000000000000" pitchFamily="50" charset="-127"/>
              </a:rPr>
              <a:t>공격자 호스트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43DBA26-886F-4264-95DF-EFC4B5DE7AA3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 flipH="1">
            <a:off x="4447160" y="2338197"/>
            <a:ext cx="6349" cy="4983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연결선: 꺾임 15">
            <a:extLst>
              <a:ext uri="{FF2B5EF4-FFF2-40B4-BE49-F238E27FC236}">
                <a16:creationId xmlns:a16="http://schemas.microsoft.com/office/drawing/2014/main" id="{79BF4DAD-4183-40A9-AE98-E635EBB1A1AD}"/>
              </a:ext>
            </a:extLst>
          </p:cNvPr>
          <p:cNvCxnSpPr>
            <a:stCxn id="10" idx="2"/>
            <a:endCxn id="6" idx="0"/>
          </p:cNvCxnSpPr>
          <p:nvPr/>
        </p:nvCxnSpPr>
        <p:spPr>
          <a:xfrm rot="5400000">
            <a:off x="1333881" y="5259705"/>
            <a:ext cx="749808" cy="603504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EC51436D-D02E-40D9-A97B-0FC89C55AF69}"/>
              </a:ext>
            </a:extLst>
          </p:cNvPr>
          <p:cNvCxnSpPr>
            <a:stCxn id="10" idx="2"/>
            <a:endCxn id="7" idx="0"/>
          </p:cNvCxnSpPr>
          <p:nvPr/>
        </p:nvCxnSpPr>
        <p:spPr>
          <a:xfrm rot="16200000" flipH="1">
            <a:off x="1937385" y="5259705"/>
            <a:ext cx="749808" cy="603504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55F4C7A9-A87D-44FA-BD8E-AAA80CDED3E6}"/>
              </a:ext>
            </a:extLst>
          </p:cNvPr>
          <p:cNvCxnSpPr>
            <a:stCxn id="11" idx="2"/>
            <a:endCxn id="8" idx="0"/>
          </p:cNvCxnSpPr>
          <p:nvPr/>
        </p:nvCxnSpPr>
        <p:spPr>
          <a:xfrm rot="5400000">
            <a:off x="6207633" y="5247513"/>
            <a:ext cx="749808" cy="627888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14BDE28B-728C-4D1F-8F7F-1E5B6BE613AB}"/>
              </a:ext>
            </a:extLst>
          </p:cNvPr>
          <p:cNvCxnSpPr>
            <a:stCxn id="11" idx="2"/>
            <a:endCxn id="9" idx="0"/>
          </p:cNvCxnSpPr>
          <p:nvPr/>
        </p:nvCxnSpPr>
        <p:spPr>
          <a:xfrm rot="16200000" flipH="1">
            <a:off x="6823329" y="5259705"/>
            <a:ext cx="749808" cy="603504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972A804-0AE2-418C-A724-5E419A2DCF4D}"/>
              </a:ext>
            </a:extLst>
          </p:cNvPr>
          <p:cNvSpPr txBox="1"/>
          <p:nvPr/>
        </p:nvSpPr>
        <p:spPr>
          <a:xfrm>
            <a:off x="2290074" y="3920109"/>
            <a:ext cx="61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Calibri" panose="020F0502020204030204" pitchFamily="34" charset="0"/>
                <a:ea typeface="Noto Sans KR" panose="020B0200000000000000" pitchFamily="50" charset="-127"/>
              </a:rPr>
              <a:t>eth0</a:t>
            </a:r>
            <a:endParaRPr lang="ko-KR" altLang="en-US" dirty="0">
              <a:latin typeface="Calibri" panose="020F0502020204030204" pitchFamily="34" charset="0"/>
              <a:ea typeface="Noto Sans KR" panose="020B0200000000000000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813BD8-A647-475F-9A6E-C5B682A541C6}"/>
              </a:ext>
            </a:extLst>
          </p:cNvPr>
          <p:cNvSpPr txBox="1"/>
          <p:nvPr/>
        </p:nvSpPr>
        <p:spPr>
          <a:xfrm>
            <a:off x="5838708" y="3962257"/>
            <a:ext cx="61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Calibri" panose="020F0502020204030204" pitchFamily="34" charset="0"/>
                <a:ea typeface="Noto Sans KR" panose="020B0200000000000000" pitchFamily="50" charset="-127"/>
              </a:rPr>
              <a:t>eth1</a:t>
            </a:r>
            <a:endParaRPr lang="ko-KR" altLang="en-US" dirty="0">
              <a:latin typeface="Calibri" panose="020F0502020204030204" pitchFamily="34" charset="0"/>
              <a:ea typeface="Noto Sans KR" panose="020B0200000000000000" pitchFamily="50" charset="-127"/>
            </a:endParaRPr>
          </a:p>
        </p:txBody>
      </p:sp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320EF770-2140-462F-98F7-0313135CE229}"/>
              </a:ext>
            </a:extLst>
          </p:cNvPr>
          <p:cNvCxnSpPr>
            <a:stCxn id="12" idx="1"/>
            <a:endCxn id="10" idx="0"/>
          </p:cNvCxnSpPr>
          <p:nvPr/>
        </p:nvCxnSpPr>
        <p:spPr>
          <a:xfrm rot="10800000" flipV="1">
            <a:off x="2010537" y="4331589"/>
            <a:ext cx="1363980" cy="44348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2489F037-D8AA-4ED0-A02C-212203CD443C}"/>
              </a:ext>
            </a:extLst>
          </p:cNvPr>
          <p:cNvCxnSpPr>
            <a:stCxn id="12" idx="3"/>
            <a:endCxn id="11" idx="0"/>
          </p:cNvCxnSpPr>
          <p:nvPr/>
        </p:nvCxnSpPr>
        <p:spPr>
          <a:xfrm>
            <a:off x="5532501" y="4331590"/>
            <a:ext cx="1363980" cy="44348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A93EC0AC-2C77-4583-A1EB-6BB0E25D1101}"/>
              </a:ext>
            </a:extLst>
          </p:cNvPr>
          <p:cNvCxnSpPr>
            <a:stCxn id="13" idx="2"/>
            <a:endCxn id="12" idx="0"/>
          </p:cNvCxnSpPr>
          <p:nvPr/>
        </p:nvCxnSpPr>
        <p:spPr>
          <a:xfrm>
            <a:off x="4447160" y="3787521"/>
            <a:ext cx="6349" cy="3383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89568592-0682-4D69-B164-9AED55B52373}"/>
              </a:ext>
            </a:extLst>
          </p:cNvPr>
          <p:cNvSpPr/>
          <p:nvPr/>
        </p:nvSpPr>
        <p:spPr>
          <a:xfrm>
            <a:off x="6582537" y="2836545"/>
            <a:ext cx="2221992" cy="95097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ea typeface="Noto Sans KR" panose="020B0200000000000000" pitchFamily="50" charset="-127"/>
              </a:rPr>
              <a:t>SDN controller</a:t>
            </a:r>
            <a:endParaRPr lang="ko-KR" altLang="en-US" dirty="0">
              <a:solidFill>
                <a:schemeClr val="accent5">
                  <a:lumMod val="75000"/>
                </a:schemeClr>
              </a:solidFill>
              <a:latin typeface="Calibri" panose="020F0502020204030204" pitchFamily="34" charset="0"/>
              <a:ea typeface="Noto Sans KR" panose="020B0200000000000000" pitchFamily="50" charset="-127"/>
            </a:endParaRPr>
          </a:p>
        </p:txBody>
      </p:sp>
      <p:cxnSp>
        <p:nvCxnSpPr>
          <p:cNvPr id="26" name="연결선: 꺾임 25">
            <a:extLst>
              <a:ext uri="{FF2B5EF4-FFF2-40B4-BE49-F238E27FC236}">
                <a16:creationId xmlns:a16="http://schemas.microsoft.com/office/drawing/2014/main" id="{839F805D-BDE9-450E-B980-B5225C46E0E3}"/>
              </a:ext>
            </a:extLst>
          </p:cNvPr>
          <p:cNvCxnSpPr>
            <a:stCxn id="25" idx="1"/>
            <a:endCxn id="12" idx="3"/>
          </p:cNvCxnSpPr>
          <p:nvPr/>
        </p:nvCxnSpPr>
        <p:spPr>
          <a:xfrm rot="10800000" flipV="1">
            <a:off x="5532501" y="3312032"/>
            <a:ext cx="1050036" cy="1019557"/>
          </a:xfrm>
          <a:prstGeom prst="bentConnector3">
            <a:avLst/>
          </a:prstGeom>
          <a:ln w="19050">
            <a:solidFill>
              <a:srgbClr val="FF0000"/>
            </a:solidFill>
            <a:prstDash val="sysDot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A799068E-5F44-4E68-8559-A0DA17BD9B54}"/>
              </a:ext>
            </a:extLst>
          </p:cNvPr>
          <p:cNvCxnSpPr>
            <a:cxnSpLocks/>
            <a:stCxn id="25" idx="2"/>
            <a:endCxn id="11" idx="0"/>
          </p:cNvCxnSpPr>
          <p:nvPr/>
        </p:nvCxnSpPr>
        <p:spPr>
          <a:xfrm rot="5400000">
            <a:off x="6801231" y="3882771"/>
            <a:ext cx="987552" cy="797052"/>
          </a:xfrm>
          <a:prstGeom prst="bentConnector3">
            <a:avLst>
              <a:gd name="adj1" fmla="val 82793"/>
            </a:avLst>
          </a:prstGeom>
          <a:ln w="19050">
            <a:solidFill>
              <a:srgbClr val="FF0000"/>
            </a:solidFill>
            <a:prstDash val="sysDot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22047FDA-9403-4B84-B2FC-AF6B1A95CD6E}"/>
              </a:ext>
            </a:extLst>
          </p:cNvPr>
          <p:cNvCxnSpPr>
            <a:cxnSpLocks/>
            <a:stCxn id="25" idx="2"/>
            <a:endCxn id="10" idx="0"/>
          </p:cNvCxnSpPr>
          <p:nvPr/>
        </p:nvCxnSpPr>
        <p:spPr>
          <a:xfrm rot="5400000">
            <a:off x="4358259" y="1439799"/>
            <a:ext cx="987552" cy="5682996"/>
          </a:xfrm>
          <a:prstGeom prst="bentConnector3">
            <a:avLst>
              <a:gd name="adj1" fmla="val 81829"/>
            </a:avLst>
          </a:prstGeom>
          <a:ln w="19050">
            <a:solidFill>
              <a:srgbClr val="FF0000"/>
            </a:solidFill>
            <a:prstDash val="sysDot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FFF8DE30-8C15-4935-B33F-DD594FC0C20F}"/>
              </a:ext>
            </a:extLst>
          </p:cNvPr>
          <p:cNvCxnSpPr/>
          <p:nvPr/>
        </p:nvCxnSpPr>
        <p:spPr>
          <a:xfrm>
            <a:off x="8961839" y="4817220"/>
            <a:ext cx="950976" cy="0"/>
          </a:xfrm>
          <a:prstGeom prst="line">
            <a:avLst/>
          </a:prstGeom>
          <a:ln w="1905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D66A313F-4EA9-466C-BDBC-B3DFFFA86897}"/>
              </a:ext>
            </a:extLst>
          </p:cNvPr>
          <p:cNvSpPr txBox="1"/>
          <p:nvPr/>
        </p:nvSpPr>
        <p:spPr>
          <a:xfrm>
            <a:off x="10043455" y="4632554"/>
            <a:ext cx="1295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Calibri" panose="020F0502020204030204" pitchFamily="34" charset="0"/>
                <a:ea typeface="Noto Sans KR" panose="020B0200000000000000" pitchFamily="50" charset="-127"/>
              </a:rPr>
              <a:t>컨트롤 채널</a:t>
            </a:r>
          </a:p>
        </p:txBody>
      </p:sp>
    </p:spTree>
    <p:extLst>
      <p:ext uri="{BB962C8B-B14F-4D97-AF65-F5344CB8AC3E}">
        <p14:creationId xmlns:p14="http://schemas.microsoft.com/office/powerpoint/2010/main" val="10817298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EDB49F-CB71-06FB-8000-45449A095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5. </a:t>
            </a:r>
            <a:r>
              <a:rPr lang="ko-KR" altLang="en-US" b="1" dirty="0"/>
              <a:t>결론 및 제언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34D18A7-3B4F-E580-E888-BCA05ECE6D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ko-KR" altLang="en-US" sz="1800" dirty="0">
                <a:latin typeface="Calibri" panose="020F0502020204030204" pitchFamily="34" charset="0"/>
                <a:ea typeface="Noto Sans KR" panose="020B0200000000000000" pitchFamily="50" charset="-127"/>
              </a:rPr>
              <a:t>연구 기여</a:t>
            </a:r>
          </a:p>
          <a:p>
            <a:pPr marL="431800" indent="-285750">
              <a:buFontTx/>
              <a:buChar char="-"/>
            </a:pP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P4 데이터 평면 기반 무손실 MTD 메커니즘 설계</a:t>
            </a:r>
            <a:endParaRPr lang="en-US" altLang="ko-KR" sz="1900" dirty="0">
              <a:latin typeface="Calibri" panose="020F0502020204030204" pitchFamily="34" charset="0"/>
              <a:ea typeface="Noto Sans KR" panose="020B0200000000000000" pitchFamily="50" charset="-127"/>
            </a:endParaRPr>
          </a:p>
          <a:p>
            <a:pPr marL="431800" indent="-285750">
              <a:buFontTx/>
              <a:buChar char="-"/>
            </a:pP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이중 매핑 + 플로우 추적 점진적 전환 알고리즘 제안</a:t>
            </a:r>
            <a:endParaRPr lang="en-US" altLang="ko-KR" sz="1900" dirty="0">
              <a:latin typeface="Calibri" panose="020F0502020204030204" pitchFamily="34" charset="0"/>
              <a:ea typeface="Noto Sans KR" panose="020B0200000000000000" pitchFamily="50" charset="-127"/>
            </a:endParaRPr>
          </a:p>
          <a:p>
            <a:pPr marL="431800" indent="-285750">
              <a:buFontTx/>
              <a:buChar char="-"/>
            </a:pP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컨트롤러 병목</a:t>
            </a:r>
            <a:r>
              <a:rPr lang="en-US" altLang="ko-KR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, </a:t>
            </a: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패킷 유실</a:t>
            </a:r>
            <a:r>
              <a:rPr lang="en-US" altLang="ko-KR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, </a:t>
            </a: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세션 단절 해결 방안</a:t>
            </a:r>
          </a:p>
          <a:p>
            <a:pPr marL="0" lvl="0" indent="0">
              <a:buNone/>
            </a:pPr>
            <a:endParaRPr lang="en-US" altLang="ko-KR" sz="1800" dirty="0">
              <a:latin typeface="Calibri" panose="020F0502020204030204" pitchFamily="34" charset="0"/>
              <a:ea typeface="Noto Sans KR" panose="020B0200000000000000" pitchFamily="50" charset="-127"/>
            </a:endParaRPr>
          </a:p>
          <a:p>
            <a:pPr marL="0" lvl="0" indent="0">
              <a:buNone/>
            </a:pPr>
            <a:r>
              <a:rPr lang="ko-KR" altLang="en-US" sz="1800" dirty="0">
                <a:latin typeface="Calibri" panose="020F0502020204030204" pitchFamily="34" charset="0"/>
                <a:ea typeface="Noto Sans KR" panose="020B0200000000000000" pitchFamily="50" charset="-127"/>
              </a:rPr>
              <a:t>현재 진행 상황</a:t>
            </a:r>
          </a:p>
          <a:p>
            <a:pPr marL="431800" indent="-285750">
              <a:buFontTx/>
              <a:buChar char="-"/>
            </a:pP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문헌 분석 및 설계 완료</a:t>
            </a:r>
            <a:endParaRPr lang="en-US" altLang="ko-KR" sz="1900" dirty="0">
              <a:latin typeface="Calibri" panose="020F0502020204030204" pitchFamily="34" charset="0"/>
              <a:ea typeface="Noto Sans KR" panose="020B0200000000000000" pitchFamily="50" charset="-127"/>
            </a:endParaRPr>
          </a:p>
          <a:p>
            <a:pPr marL="431800" indent="-285750">
              <a:buFontTx/>
              <a:buChar char="-"/>
            </a:pPr>
            <a:r>
              <a:rPr lang="ko-KR" altLang="en-US" sz="1900" dirty="0" err="1">
                <a:latin typeface="Calibri" panose="020F0502020204030204" pitchFamily="34" charset="0"/>
                <a:ea typeface="Noto Sans KR" panose="020B0200000000000000" pitchFamily="50" charset="-127"/>
              </a:rPr>
              <a:t>Mininet</a:t>
            </a: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 / BMv2 테스트베드 구축, P4 핵심 로직 구현 중</a:t>
            </a:r>
          </a:p>
          <a:p>
            <a:pPr marL="0" lvl="0" indent="0">
              <a:buNone/>
            </a:pPr>
            <a:endParaRPr lang="en-US" altLang="ko-KR" sz="1800" dirty="0">
              <a:latin typeface="Calibri" panose="020F0502020204030204" pitchFamily="34" charset="0"/>
              <a:ea typeface="Noto Sans KR" panose="020B0200000000000000" pitchFamily="50" charset="-127"/>
            </a:endParaRPr>
          </a:p>
          <a:p>
            <a:pPr marL="0" lvl="0" indent="0">
              <a:buNone/>
            </a:pPr>
            <a:r>
              <a:rPr lang="ko-KR" altLang="en-US" sz="1800" dirty="0">
                <a:latin typeface="Calibri" panose="020F0502020204030204" pitchFamily="34" charset="0"/>
                <a:ea typeface="Noto Sans KR" panose="020B0200000000000000" pitchFamily="50" charset="-127"/>
              </a:rPr>
              <a:t>향후 과제</a:t>
            </a:r>
          </a:p>
          <a:p>
            <a:pPr marL="431800" indent="-285750">
              <a:buFontTx/>
              <a:buChar char="-"/>
            </a:pP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하드웨어 검증 </a:t>
            </a:r>
            <a:r>
              <a:rPr lang="en-US" altLang="ko-KR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(</a:t>
            </a:r>
            <a:r>
              <a:rPr lang="ko-KR" altLang="en-US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현 단계는 소프트웨어 레벨 테스트에 불과함</a:t>
            </a:r>
            <a:r>
              <a:rPr lang="en-US" altLang="ko-KR" sz="1900" dirty="0">
                <a:latin typeface="Calibri" panose="020F0502020204030204" pitchFamily="34" charset="0"/>
                <a:ea typeface="Noto Sans KR" panose="020B0200000000000000" pitchFamily="50" charset="-127"/>
              </a:rPr>
              <a:t>)</a:t>
            </a:r>
            <a:endParaRPr lang="ko-KR" altLang="en-US" sz="1900" dirty="0">
              <a:latin typeface="Calibri" panose="020F0502020204030204" pitchFamily="34" charset="0"/>
              <a:ea typeface="Noto Sans KR" panose="020B0200000000000000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D97B59F-A43C-9C97-5898-18DEBAD9A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82523-747B-4735-9942-0DFBA197DB8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42043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57150">
          <a:solidFill>
            <a:srgbClr val="C0000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14770</TotalTime>
  <Words>429</Words>
  <Application>Microsoft Office PowerPoint</Application>
  <PresentationFormat>와이드스크린</PresentationFormat>
  <Paragraphs>72</Paragraphs>
  <Slides>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1" baseType="lpstr">
      <vt:lpstr>KoPubWorld돋움체 Medium</vt:lpstr>
      <vt:lpstr>Arial</vt:lpstr>
      <vt:lpstr>Calibri</vt:lpstr>
      <vt:lpstr>Wingdings</vt:lpstr>
      <vt:lpstr>Office 테마</vt:lpstr>
      <vt:lpstr>SDN 및 P4 기반의 무손실 이동 표적
방어 (MTD) 메커니즘에 관한 연구</vt:lpstr>
      <vt:lpstr>1. 연구 주제의 선정 동기 및 배경</vt:lpstr>
      <vt:lpstr>2. 연구의 목적 및 필요성</vt:lpstr>
      <vt:lpstr>4. 연구 방법 및 예상 결과</vt:lpstr>
      <vt:lpstr>시스템 아키텍처 토폴로지</vt:lpstr>
      <vt:lpstr>5. 결론 및 제언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이세영</cp:lastModifiedBy>
  <cp:revision>478</cp:revision>
  <cp:lastPrinted>2023-07-22T03:05:35Z</cp:lastPrinted>
  <dcterms:created xsi:type="dcterms:W3CDTF">2023-05-30T07:13:49Z</dcterms:created>
  <dcterms:modified xsi:type="dcterms:W3CDTF">2026-04-10T04:23:34Z</dcterms:modified>
</cp:coreProperties>
</file>